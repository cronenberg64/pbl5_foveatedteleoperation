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/>
            </a:pPr>
            <a:r>
              <a:t>Does Foveated Rendering Enhance Teleoperation?</a:t>
            </a:r>
          </a:p>
          <a:p>
            <a:r>
              <a:t>(A Gaze-Contingent Approach)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PBL5 Final Presentation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Introduction</a:t>
            </a:r>
          </a:p>
          <a:p>
            <a:pPr>
              <a:defRPr sz="2400"/>
            </a:pPr>
            <a:r>
              <a:t>Experiment</a:t>
            </a:r>
          </a:p>
          <a:p>
            <a:pPr>
              <a:defRPr sz="2400"/>
            </a:pPr>
            <a:r>
              <a:t>Demographics</a:t>
            </a:r>
          </a:p>
          <a:p>
            <a:pPr>
              <a:defRPr sz="2400"/>
            </a:pPr>
            <a:r>
              <a:t>Results</a:t>
            </a:r>
          </a:p>
          <a:p>
            <a:pPr>
              <a:defRPr sz="2400"/>
            </a:pPr>
            <a:r>
              <a:t>Discussion</a:t>
            </a:r>
          </a:p>
          <a:p>
            <a:pPr>
              <a:defRPr sz="2400"/>
            </a:pPr>
            <a:r>
              <a:t>Conclusion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Problem: High latency and bandwidth costs in teleoperation.</a:t>
            </a:r>
          </a:p>
          <a:p>
            <a:pPr>
              <a:defRPr sz="2400"/>
            </a:pPr>
            <a:r>
              <a:t>Hypothesis: Gaze-contingent foveated compression can reduce bandwidth without impairing operator performance.</a:t>
            </a:r>
          </a:p>
          <a:p>
            <a:pPr>
              <a:defRPr sz="2400"/>
            </a:pPr>
            <a:r>
              <a:t>Approach: Compare Uniform, Foveated, and Inverse-Foveated conditions across Navigation, Identification, and Visual Search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Participant Demographics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Participants: 16</a:t>
            </a:r>
          </a:p>
          <a:p>
            <a:pPr>
              <a:defRPr sz="2400"/>
            </a:pPr>
            <a:r>
              <a:t>Vision Correction: 12 out of 16 participants</a:t>
            </a:r>
          </a:p>
          <a:p>
            <a:pPr>
              <a:defRPr sz="2400"/>
            </a:pPr>
            <a:r>
              <a:t>Experience distribution:</a:t>
            </a:r>
          </a:p>
          <a:p>
            <a:pPr>
              <a:defRPr sz="2400"/>
            </a:pPr>
            <a:r>
              <a:t>  - Occasionally: 8</a:t>
            </a:r>
          </a:p>
          <a:p>
            <a:pPr>
              <a:defRPr sz="2400"/>
            </a:pPr>
            <a:r>
              <a:t>  - Once or twice: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Completion Time (All Tasks)</a:t>
            </a:r>
          </a:p>
        </p:txBody>
      </p:sp>
      <p:pic>
        <p:nvPicPr>
          <p:cNvPr id="3" name="Picture 2" descr="main_effect_duratio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Time Distribution (All Tasks)</a:t>
            </a:r>
          </a:p>
        </p:txBody>
      </p:sp>
      <p:pic>
        <p:nvPicPr>
          <p:cNvPr id="3" name="Picture 2" descr="duration_by_scenario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Individual Differences (All Tasks)</a:t>
            </a:r>
          </a:p>
        </p:txBody>
      </p:sp>
      <p:pic>
        <p:nvPicPr>
          <p:cNvPr id="3" name="Picture 2" descr="individual_difference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Safety/Collisions</a:t>
            </a:r>
          </a:p>
        </p:txBody>
      </p:sp>
      <p:pic>
        <p:nvPicPr>
          <p:cNvPr id="3" name="Picture 2" descr="main_effect_collisions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TLX Mental Demand</a:t>
            </a:r>
          </a:p>
        </p:txBody>
      </p:sp>
      <p:pic>
        <p:nvPicPr>
          <p:cNvPr id="3" name="Picture 2" descr="nasa_tlx_Mental_Demand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TLX Physical Demand</a:t>
            </a:r>
          </a:p>
        </p:txBody>
      </p:sp>
      <p:pic>
        <p:nvPicPr>
          <p:cNvPr id="3" name="Picture 2" descr="nasa_tlx_Physical_Demand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TLX Frustration</a:t>
            </a:r>
          </a:p>
        </p:txBody>
      </p:sp>
      <p:pic>
        <p:nvPicPr>
          <p:cNvPr id="3" name="Picture 2" descr="nasa_tlx_Frustratio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TLX Overall Workload</a:t>
            </a:r>
          </a:p>
        </p:txBody>
      </p:sp>
      <p:pic>
        <p:nvPicPr>
          <p:cNvPr id="3" name="Picture 2" descr="nasa_tlx_Overall_Workload_(RTLX)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8229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&amp;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Across all tasks, the Foveated condition closely matched the performance of the uncompressed Uniform condition.</a:t>
            </a:r>
          </a:p>
          <a:p>
            <a:pPr>
              <a:defRPr sz="2400"/>
            </a:pPr>
            <a:r>
              <a:t>The Inverse-Foveated condition consistently led to worse completion times, higher collisions, and greater subjective workload.</a:t>
            </a:r>
          </a:p>
          <a:p>
            <a:pPr>
              <a:defRPr sz="2400"/>
            </a:pPr>
            <a:r>
              <a:t>This confirms that preserving foveal resolution is critical for teleoperation.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Foveated rendering successfully masks compression artifacts without sacrificing performance.</a:t>
            </a:r>
          </a:p>
          <a:p>
            <a:pPr>
              <a:defRPr sz="2400"/>
            </a:pPr>
            <a:r>
              <a:t>Future Work: Real-world physical rover testing.</a:t>
            </a:r>
          </a:p>
          <a:p>
            <a:pPr>
              <a:defRPr sz="2400"/>
            </a:pPr>
            <a:r>
              <a:t>Future Work: Optimize gaze tracking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